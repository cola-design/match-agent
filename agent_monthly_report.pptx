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91"/>
          </a:solidFill>
          <a:ln>
            <a:solidFill>
              <a:srgbClr val="00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046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0756E"/>
                </a:solidFill>
                <a:latin typeface="Microsoft YaHei"/>
              </a:rPr>
              <a:t>成套柜智能选型报价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66928"/>
            <a:ext cx="8046720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50" b="0">
                <a:solidFill>
                  <a:srgbClr val="6C7B7B"/>
                </a:solidFill>
                <a:latin typeface="Microsoft YaHei"/>
              </a:rPr>
              <a:t>完成测试闭环验证，推进正式数据接入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04120" y="201168"/>
            <a:ext cx="178308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00756E"/>
                </a:solidFill>
                <a:latin typeface="Microsoft YaHei"/>
              </a:rPr>
              <a:t>天正智能研究院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448056"/>
            <a:ext cx="17830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6C7B7B"/>
                </a:solidFill>
                <a:latin typeface="Microsoft YaHei"/>
              </a:rPr>
              <a:t>2026年10月月度汇报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024128"/>
            <a:ext cx="3429000" cy="384048"/>
          </a:xfrm>
          <a:prstGeom prst="roundRect">
            <a:avLst>
              <a:gd name="adj" fmla="val 8000"/>
            </a:avLst>
          </a:prstGeom>
          <a:solidFill>
            <a:srgbClr val="009D91"/>
          </a:solidFill>
          <a:ln>
            <a:solidFill>
              <a:srgbClr val="00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060704"/>
            <a:ext cx="32004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01  本月完成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36192"/>
            <a:ext cx="3154680" cy="5120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>
                <a:solidFill>
                  <a:srgbClr val="2D4041"/>
                </a:solidFill>
                <a:latin typeface="Microsoft YaHei"/>
              </a:rPr>
              <a:t>• 完成 Dify 选型报价流程搭建与联调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011680"/>
            <a:ext cx="3154680" cy="5120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>
                <a:solidFill>
                  <a:srgbClr val="2D4041"/>
                </a:solidFill>
                <a:latin typeface="Microsoft YaHei"/>
              </a:rPr>
              <a:t>• 贯通协议/图纸解析、产品选型和 BOM 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487168"/>
            <a:ext cx="3154680" cy="5120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>
                <a:solidFill>
                  <a:srgbClr val="2D4041"/>
                </a:solidFill>
                <a:latin typeface="Microsoft YaHei"/>
              </a:rPr>
              <a:t>• 保留工程师 BOM 确认及回传校验环节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962656"/>
            <a:ext cx="3154680" cy="5120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>
                <a:solidFill>
                  <a:srgbClr val="2D4041"/>
                </a:solidFill>
                <a:latin typeface="Microsoft YaHei"/>
              </a:rPr>
              <a:t>• 完成物料编码匹配、价格查询和报价表输出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703320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00756E"/>
                </a:solidFill>
                <a:latin typeface="Microsoft YaHei"/>
              </a:rPr>
              <a:t>流程闭环：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096512"/>
            <a:ext cx="31546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2D4041"/>
                </a:solidFill>
                <a:latin typeface="Microsoft YaHei"/>
              </a:rPr>
              <a:t>需求解析  →  产品选型  →  BOM确认
→  产品/价格匹配  →  测试报价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50208" y="1024128"/>
            <a:ext cx="3913632" cy="384048"/>
          </a:xfrm>
          <a:prstGeom prst="roundRect">
            <a:avLst>
              <a:gd name="adj" fmla="val 8000"/>
            </a:avLst>
          </a:prstGeom>
          <a:solidFill>
            <a:srgbClr val="009D91"/>
          </a:solidFill>
          <a:ln>
            <a:solidFill>
              <a:srgbClr val="00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1060704"/>
            <a:ext cx="368503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02  工程验证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1536192"/>
            <a:ext cx="3675887" cy="2084831"/>
          </a:xfrm>
          <a:prstGeom prst="roundRect">
            <a:avLst>
              <a:gd name="adj" fmla="val 8000"/>
            </a:avLst>
          </a:prstGeom>
          <a:solidFill>
            <a:srgbClr val="F1FBF9"/>
          </a:solidFill>
          <a:ln w="19050">
            <a:solidFill>
              <a:srgbClr val="009D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700784"/>
            <a:ext cx="340156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0756E"/>
                </a:solidFill>
                <a:latin typeface="Microsoft YaHei"/>
              </a:rPr>
              <a:t>图片占位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231136"/>
            <a:ext cx="3218687" cy="1261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6C7B7B"/>
                </a:solidFill>
                <a:latin typeface="Microsoft YaHei"/>
              </a:rPr>
              <a:t>放置 Dify 运行流程截图
建议：展示“解析—选型—确认—报价”的完整节点
替换此框即可，不需要修改版式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840480"/>
            <a:ext cx="1078992" cy="841248"/>
          </a:xfrm>
          <a:prstGeom prst="roundRect">
            <a:avLst>
              <a:gd name="adj" fmla="val 8000"/>
            </a:avLst>
          </a:prstGeom>
          <a:solidFill>
            <a:srgbClr val="E0F7F3"/>
          </a:solidFill>
          <a:ln>
            <a:solidFill>
              <a:srgbClr val="E0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3931920"/>
            <a:ext cx="107899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00756E"/>
                </a:solidFill>
                <a:latin typeface="Microsoft YaHei"/>
              </a:rPr>
              <a:t>50kW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297680"/>
            <a:ext cx="987551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0">
                <a:solidFill>
                  <a:srgbClr val="6C7B7B"/>
                </a:solidFill>
                <a:latin typeface="Microsoft YaHei"/>
              </a:rPr>
              <a:t>测试用例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21808" y="3840480"/>
            <a:ext cx="1078992" cy="841248"/>
          </a:xfrm>
          <a:prstGeom prst="roundRect">
            <a:avLst>
              <a:gd name="adj" fmla="val 8000"/>
            </a:avLst>
          </a:prstGeom>
          <a:solidFill>
            <a:srgbClr val="E0F7F3"/>
          </a:solidFill>
          <a:ln>
            <a:solidFill>
              <a:srgbClr val="E0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1808" y="3931920"/>
            <a:ext cx="107899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00756E"/>
                </a:solidFill>
                <a:latin typeface="Microsoft YaHei"/>
              </a:rPr>
              <a:t>12项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297680"/>
            <a:ext cx="987551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0">
                <a:solidFill>
                  <a:srgbClr val="6C7B7B"/>
                </a:solidFill>
                <a:latin typeface="Microsoft YaHei"/>
              </a:rPr>
              <a:t>物料输出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840480"/>
            <a:ext cx="1170432" cy="841248"/>
          </a:xfrm>
          <a:prstGeom prst="roundRect">
            <a:avLst>
              <a:gd name="adj" fmla="val 8000"/>
            </a:avLst>
          </a:prstGeom>
          <a:solidFill>
            <a:srgbClr val="E0F7F3"/>
          </a:solidFill>
          <a:ln>
            <a:solidFill>
              <a:srgbClr val="E0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3931920"/>
            <a:ext cx="117043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00756E"/>
                </a:solidFill>
                <a:latin typeface="Microsoft YaHei"/>
              </a:rPr>
              <a:t>已跑通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4297680"/>
            <a:ext cx="107899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0">
                <a:solidFill>
                  <a:srgbClr val="6C7B7B"/>
                </a:solidFill>
                <a:latin typeface="Microsoft YaHei"/>
              </a:rPr>
              <a:t>闭环状态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4873752"/>
            <a:ext cx="3611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2D4041"/>
                </a:solidFill>
                <a:latin typeface="Microsoft YaHei"/>
              </a:rPr>
              <a:t>验证结果：50kW 光伏并网配电箱测试用例已跑通，
完成从需求输入到测试报价输出的完整链路。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1" y="1024128"/>
            <a:ext cx="3822191" cy="384048"/>
          </a:xfrm>
          <a:prstGeom prst="roundRect">
            <a:avLst>
              <a:gd name="adj" fmla="val 8000"/>
            </a:avLst>
          </a:prstGeom>
          <a:solidFill>
            <a:srgbClr val="009D91"/>
          </a:solidFill>
          <a:ln>
            <a:solidFill>
              <a:srgbClr val="009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1060704"/>
            <a:ext cx="3593591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03  下一步工作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1536192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1FBF9"/>
          </a:solidFill>
          <a:ln w="19050">
            <a:solidFill>
              <a:srgbClr val="009D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1700784"/>
            <a:ext cx="32918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0756E"/>
                </a:solidFill>
                <a:latin typeface="Microsoft YaHei"/>
              </a:rPr>
              <a:t>图片占位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2231136"/>
            <a:ext cx="31089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6C7B7B"/>
                </a:solidFill>
                <a:latin typeface="Microsoft YaHei"/>
              </a:rPr>
              <a:t>放置 50kW 测试报价 Excel 截图
建议：显示12项明细或汇总金额
也可替换为产品库/MongoDB结构图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273552"/>
            <a:ext cx="3401568" cy="4206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>
                <a:solidFill>
                  <a:srgbClr val="2D4041"/>
                </a:solidFill>
                <a:latin typeface="Microsoft YaHei"/>
              </a:rPr>
              <a:t>• 清洗真实产品数据，建立正式产品主数据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657600"/>
            <a:ext cx="3401568" cy="4206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>
                <a:solidFill>
                  <a:srgbClr val="2D4041"/>
                </a:solidFill>
                <a:latin typeface="Microsoft YaHei"/>
              </a:rPr>
              <a:t>• 接入 MongoDB，形成可查询的数据服务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041648"/>
            <a:ext cx="3401568" cy="4206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>
                <a:solidFill>
                  <a:srgbClr val="2D4041"/>
                </a:solidFill>
                <a:latin typeface="Microsoft YaHei"/>
              </a:rPr>
              <a:t>• 接入正式价格数据和版本/有效期管理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425696"/>
            <a:ext cx="3401568" cy="4206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>
                <a:solidFill>
                  <a:srgbClr val="2D4041"/>
                </a:solidFill>
                <a:latin typeface="Microsoft YaHei"/>
              </a:rPr>
              <a:t>• 根据正式字段完善 YAML 与查询校验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4809744"/>
            <a:ext cx="3401568" cy="4206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>
                <a:solidFill>
                  <a:srgbClr val="2D4041"/>
                </a:solidFill>
                <a:latin typeface="Microsoft YaHei"/>
              </a:rPr>
              <a:t>• 验证不同柜型、缺参、缺价和冲突场景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" y="5806440"/>
            <a:ext cx="11503152" cy="566928"/>
          </a:xfrm>
          <a:prstGeom prst="roundRect">
            <a:avLst>
              <a:gd name="adj" fmla="val 8000"/>
            </a:avLst>
          </a:prstGeom>
          <a:solidFill>
            <a:srgbClr val="E0F7F3"/>
          </a:solidFill>
          <a:ln>
            <a:solidFill>
              <a:srgbClr val="E0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5925312"/>
            <a:ext cx="102412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50" b="1">
                <a:solidFill>
                  <a:srgbClr val="00756E"/>
                </a:solidFill>
                <a:latin typeface="Microsoft YaHei"/>
              </a:rPr>
              <a:t>阶段结论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2" y="5879592"/>
            <a:ext cx="985723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2D4041"/>
                </a:solidFill>
                <a:latin typeface="Microsoft YaHei"/>
              </a:rPr>
              <a:t>测试流程已验证，下一阶段由单案例跑通推进到正式数据支撑下的通用选型报价。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519672"/>
            <a:ext cx="5029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C7B7B"/>
                </a:solidFill>
                <a:latin typeface="Microsoft YaHei"/>
              </a:rPr>
              <a:t>注：图片占位框已标注建议内容，替换图片后可直接汇报。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6519672"/>
            <a:ext cx="2011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750" b="0">
                <a:solidFill>
                  <a:srgbClr val="6C7B7B"/>
                </a:solidFill>
                <a:latin typeface="Microsoft YaHei"/>
              </a:rPr>
              <a:t>智能研究院 · 选型报价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